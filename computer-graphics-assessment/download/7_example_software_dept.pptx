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0" y="-36576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0" b="1">
                <a:solidFill>
                  <a:srgbClr val="1C3D66"/>
                </a:solidFill>
                <a:latin typeface="NanumGothicCoding"/>
              </a:rPr>
              <a:t>&lt;/&gt;</a:t>
            </a:r>
          </a:p>
        </p:txBody>
      </p:sp>
      <p:sp>
        <p:nvSpPr>
          <p:cNvPr id="3" name="Oval 2"/>
          <p:cNvSpPr/>
          <p:nvPr/>
        </p:nvSpPr>
        <p:spPr>
          <a:xfrm>
            <a:off x="7726679" y="1051560"/>
            <a:ext cx="4206240" cy="4206240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scot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914400"/>
            <a:ext cx="3331684" cy="5394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685800"/>
            <a:ext cx="86868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49808"/>
            <a:ext cx="730214" cy="78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3080" y="80467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NanumSquareRound"/>
              </a:rPr>
              <a:t>대구스마트고등학교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C1C6"/>
                </a:solidFill>
                <a:latin typeface="NanumBarunGothic"/>
              </a:rPr>
              <a:t>2027학년도 신입생 학과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C20E"/>
                </a:solidFill>
                <a:latin typeface="NanumSquareRound"/>
              </a:rPr>
              <a:t>아이디어를 현실로!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FFFFFF"/>
                </a:solidFill>
                <a:latin typeface="NanumSquareRound"/>
              </a:rPr>
              <a:t>소프트웨어과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434840"/>
            <a:ext cx="1097280" cy="82296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70916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NanumBarunGothic"/>
              </a:rPr>
              <a:t>세상을 바꾸는 코드,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NanumBarunGothic"/>
              </a:rPr>
              <a:t>인공지능과 함께 시작하세요!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9788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7AB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89788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NanumSquareRound"/>
              </a:rPr>
              <a:t>안내 캐릭터 · 스마영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C20E"/>
                </a:solidFill>
                <a:latin typeface="NanumGothicCoding"/>
              </a:rPr>
              <a:t>&lt;/&gt;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4747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2A4D"/>
                </a:solidFill>
                <a:latin typeface="NanumSquareRound"/>
              </a:rPr>
              <a:t>대구스마트고등학교를 소개해요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" y="1024128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5A6472"/>
                </a:solidFill>
                <a:latin typeface="NanumBarunGothic"/>
              </a:rPr>
              <a:t>기술로 꿈을 키우는 남녀 공학 특성화고등학교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31520" cy="777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347472"/>
            <a:ext cx="611342" cy="658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NanumBarunGothic"/>
              </a:rPr>
              <a:t>대구스마트고등학교  </a:t>
            </a:r>
            <a:r>
              <a:rPr sz="1300" b="1">
                <a:solidFill>
                  <a:srgbClr val="FFC20E"/>
                </a:solidFill>
                <a:latin typeface="NanumBarunGothic"/>
              </a:rPr>
              <a:t>소프트웨어과</a:t>
            </a:r>
          </a:p>
        </p:txBody>
      </p:sp>
      <p:sp>
        <p:nvSpPr>
          <p:cNvPr id="9" name="Oval 8"/>
          <p:cNvSpPr/>
          <p:nvPr/>
        </p:nvSpPr>
        <p:spPr>
          <a:xfrm>
            <a:off x="11292840" y="6291072"/>
            <a:ext cx="530352" cy="530352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92840" y="629107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F2A4D"/>
                </a:solidFill>
                <a:latin typeface="NanumSquareRound"/>
              </a:rPr>
              <a:t>2</a:t>
            </a:r>
          </a:p>
        </p:txBody>
      </p:sp>
      <p:pic>
        <p:nvPicPr>
          <p:cNvPr id="11" name="Picture 10" descr="building_w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8229600" cy="3465543"/>
          </a:xfrm>
          <a:prstGeom prst="rect">
            <a:avLst/>
          </a:prstGeom>
          <a:ln w="25400">
            <a:solidFill>
              <a:srgbClr val="0F2A4D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5257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2A4D"/>
                </a:solidFill>
                <a:latin typeface="NanumSquareRound"/>
              </a:rPr>
              <a:t>모집 학과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69280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F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F2A4D"/>
                </a:solidFill>
                <a:latin typeface="NanumSquareRound"/>
              </a:rPr>
              <a:t>정밀기계과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5669280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F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5669280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F2A4D"/>
                </a:solidFill>
                <a:latin typeface="NanumSquareRound"/>
              </a:rPr>
              <a:t>자동화기계과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5669280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FFC20E"/>
          </a:solidFill>
          <a:ln w="19050">
            <a:solidFill>
              <a:srgbClr val="0F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5669280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F2A4D"/>
                </a:solidFill>
                <a:latin typeface="NanumSquareRound"/>
              </a:rPr>
              <a:t>소프트웨어과</a:t>
            </a:r>
          </a:p>
        </p:txBody>
      </p:sp>
      <p:sp>
        <p:nvSpPr>
          <p:cNvPr id="19" name="Rounded Rectangular Callout 18"/>
          <p:cNvSpPr/>
          <p:nvPr/>
        </p:nvSpPr>
        <p:spPr>
          <a:xfrm>
            <a:off x="9098280" y="1691640"/>
            <a:ext cx="2697480" cy="1600200"/>
          </a:xfrm>
          <a:prstGeom prst="wedgeRoundRectCallout">
            <a:avLst>
              <a:gd name="adj1" fmla="val -10000"/>
              <a:gd name="adj2" fmla="val 75000"/>
              <a:gd name="adj3" fmla="val 16667"/>
            </a:avLst>
          </a:prstGeom>
          <a:solidFill>
            <a:srgbClr val="FFFFFF"/>
          </a:solidFill>
          <a:ln w="19050">
            <a:solidFill>
              <a:srgbClr val="0F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8288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0F2A4D"/>
                </a:solidFill>
                <a:latin typeface="NanumBarunGothic"/>
              </a:rPr>
              <a:t>안녕! 나는 스마영이야.</a:t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7AB848"/>
                </a:solidFill>
                <a:latin typeface="NanumBarunGothic"/>
              </a:rPr>
              <a:t>소프트웨어과</a:t>
            </a:r>
            <a:r>
              <a:rPr sz="1800" b="0">
                <a:solidFill>
                  <a:srgbClr val="0F2A4D"/>
                </a:solidFill>
                <a:latin typeface="NanumBarunGothic"/>
              </a:rPr>
              <a:t>를</a:t>
            </a:r>
          </a:p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0F2A4D"/>
                </a:solidFill>
                <a:latin typeface="NanumBarunGothic"/>
              </a:rPr>
              <a:t>소개할게!</a:t>
            </a:r>
          </a:p>
        </p:txBody>
      </p:sp>
      <p:pic>
        <p:nvPicPr>
          <p:cNvPr id="21" name="Picture 20" descr="mascot_thum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3703320"/>
            <a:ext cx="1689433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C20E"/>
                </a:solidFill>
                <a:latin typeface="NanumGothicCoding"/>
              </a:rPr>
              <a:t>&lt;/&gt;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4747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2A4D"/>
                </a:solidFill>
                <a:latin typeface="NanumSquareRound"/>
              </a:rPr>
              <a:t>소프트웨어과는 이런 곳이에요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" y="1024128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5A6472"/>
                </a:solidFill>
                <a:latin typeface="NanumBarunGothic"/>
              </a:rPr>
              <a:t>학과 교육목표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31520" cy="777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347472"/>
            <a:ext cx="611342" cy="658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NanumBarunGothic"/>
              </a:rPr>
              <a:t>대구스마트고등학교  </a:t>
            </a:r>
            <a:r>
              <a:rPr sz="1300" b="1">
                <a:solidFill>
                  <a:srgbClr val="FFC20E"/>
                </a:solidFill>
                <a:latin typeface="NanumBarunGothic"/>
              </a:rPr>
              <a:t>소프트웨어과</a:t>
            </a:r>
          </a:p>
        </p:txBody>
      </p:sp>
      <p:sp>
        <p:nvSpPr>
          <p:cNvPr id="9" name="Oval 8"/>
          <p:cNvSpPr/>
          <p:nvPr/>
        </p:nvSpPr>
        <p:spPr>
          <a:xfrm>
            <a:off x="11292840" y="6291072"/>
            <a:ext cx="530352" cy="530352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92840" y="629107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F2A4D"/>
                </a:solidFill>
                <a:latin typeface="NanumSquareRound"/>
              </a:rPr>
              <a:t>3</a:t>
            </a:r>
          </a:p>
        </p:txBody>
      </p:sp>
      <p:pic>
        <p:nvPicPr>
          <p:cNvPr id="11" name="Picture 10" descr="sw_l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669280" cy="2652494"/>
          </a:xfrm>
          <a:prstGeom prst="rect">
            <a:avLst/>
          </a:prstGeom>
          <a:ln w="25400">
            <a:solidFill>
              <a:srgbClr val="0F2A4D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44348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A6472"/>
                </a:solidFill>
                <a:latin typeface="NanumBarunGothic"/>
              </a:rPr>
              <a:t>▲ 소프트웨어과 실습 모습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691640"/>
            <a:ext cx="5074920" cy="4206240"/>
          </a:xfrm>
          <a:prstGeom prst="roundRect">
            <a:avLst>
              <a:gd name="adj" fmla="val 12000"/>
            </a:avLst>
          </a:prstGeom>
          <a:solidFill>
            <a:srgbClr val="0F2A4D"/>
          </a:solidFill>
          <a:ln w="15875">
            <a:solidFill>
              <a:srgbClr val="0F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87451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FFC20E"/>
                </a:solidFill>
                <a:latin typeface="NanumSquareRoun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697480"/>
            <a:ext cx="43891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C20E"/>
                </a:solidFill>
                <a:latin typeface="NanumSquareRound"/>
              </a:rPr>
              <a:t>앱·웹·게임 개발</a:t>
            </a:r>
            <a:r>
              <a:rPr sz="2600" b="1">
                <a:solidFill>
                  <a:srgbClr val="FFFFFF"/>
                </a:solidFill>
                <a:latin typeface="NanumSquareRound"/>
              </a:rPr>
              <a:t>,</a:t>
            </a:r>
          </a:p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C20E"/>
                </a:solidFill>
                <a:latin typeface="NanumSquareRound"/>
              </a:rPr>
              <a:t>인공지능</a:t>
            </a:r>
            <a:r>
              <a:rPr sz="2600" b="1">
                <a:solidFill>
                  <a:srgbClr val="FFFFFF"/>
                </a:solidFill>
                <a:latin typeface="NanumSquareRound"/>
              </a:rPr>
              <a:t>, </a:t>
            </a:r>
            <a:r>
              <a:rPr sz="2600" b="1">
                <a:solidFill>
                  <a:srgbClr val="FFC20E"/>
                </a:solidFill>
                <a:latin typeface="NanumSquareRound"/>
              </a:rPr>
              <a:t>빅데이터</a:t>
            </a:r>
            <a:r>
              <a:rPr sz="2600" b="1">
                <a:solidFill>
                  <a:srgbClr val="FFFFFF"/>
                </a:solidFill>
                <a:latin typeface="NanumSquareRound"/>
              </a:rPr>
              <a:t> 분야의</a:t>
            </a:r>
          </a:p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NanumSquareRound"/>
              </a:rPr>
              <a:t>실무 역량을 갖춘</a:t>
            </a:r>
          </a:p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NanumSquareRound"/>
              </a:rPr>
              <a:t>소프트웨어 인재 양성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566928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FF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53035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7AB848"/>
                </a:solidFill>
                <a:latin typeface="NanumBarunGothic"/>
              </a:rPr>
              <a:t>아이디어를 현실로!</a:t>
            </a:r>
            <a:r>
              <a:rPr sz="1800" b="0">
                <a:solidFill>
                  <a:srgbClr val="0F2A4D"/>
                </a:solidFill>
                <a:latin typeface="NanumBarunGothic"/>
              </a:rPr>
              <a:t> 생각한 것을 코드로 직접 만들어 봐요.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C20E"/>
                </a:solidFill>
                <a:latin typeface="NanumGothicCoding"/>
              </a:rPr>
              <a:t>&lt;/&gt;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4747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2A4D"/>
                </a:solidFill>
                <a:latin typeface="NanumSquareRound"/>
              </a:rPr>
              <a:t>이런 분야를 배워요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" y="1024128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5A6472"/>
                </a:solidFill>
                <a:latin typeface="NanumBarunGothic"/>
              </a:rPr>
              <a:t>교육목표의 네 가지 핵심 분야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31520" cy="777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347472"/>
            <a:ext cx="611342" cy="658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NanumBarunGothic"/>
              </a:rPr>
              <a:t>대구스마트고등학교  </a:t>
            </a:r>
            <a:r>
              <a:rPr sz="1300" b="1">
                <a:solidFill>
                  <a:srgbClr val="FFC20E"/>
                </a:solidFill>
                <a:latin typeface="NanumBarunGothic"/>
              </a:rPr>
              <a:t>소프트웨어과</a:t>
            </a:r>
          </a:p>
        </p:txBody>
      </p:sp>
      <p:sp>
        <p:nvSpPr>
          <p:cNvPr id="9" name="Oval 8"/>
          <p:cNvSpPr/>
          <p:nvPr/>
        </p:nvSpPr>
        <p:spPr>
          <a:xfrm>
            <a:off x="11292840" y="6291072"/>
            <a:ext cx="530352" cy="530352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92840" y="629107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F2A4D"/>
                </a:solidFill>
                <a:latin typeface="NanumSquareRound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37360"/>
            <a:ext cx="260604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4731" y="2130552"/>
            <a:ext cx="1133856" cy="1133856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04188" y="2423160"/>
            <a:ext cx="694944" cy="548640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0F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504188" y="2587752"/>
            <a:ext cx="694944" cy="0"/>
          </a:xfrm>
          <a:prstGeom prst="line">
            <a:avLst/>
          </a:prstGeom>
          <a:ln w="38100">
            <a:solidFill>
              <a:srgbClr val="0F2A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577339" y="2478024"/>
            <a:ext cx="64008" cy="64008"/>
          </a:xfrm>
          <a:prstGeom prst="ellipse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77924" y="2478024"/>
            <a:ext cx="64008" cy="64008"/>
          </a:xfrm>
          <a:prstGeom prst="ellipse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78507" y="2478024"/>
            <a:ext cx="64008" cy="64008"/>
          </a:xfrm>
          <a:prstGeom prst="ellipse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77339" y="26243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D"/>
                </a:solidFill>
                <a:latin typeface="NanumGothicCoding"/>
              </a:rPr>
              <a:t>&lt;/&gt;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2044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0F2A4D"/>
                </a:solidFill>
                <a:latin typeface="NanumSquareRound"/>
              </a:rPr>
              <a:t>앱·웹 개발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23060" y="4160520"/>
            <a:ext cx="457200" cy="54864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A6472"/>
                </a:solidFill>
                <a:latin typeface="NanumBarunGothic"/>
              </a:rPr>
              <a:t>웹사이트와 모바일 앱</a:t>
            </a:r>
          </a:p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A6472"/>
                </a:solidFill>
                <a:latin typeface="NanumBarunGothic"/>
              </a:rPr>
              <a:t>서비스를 만드는 기술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64992" y="1737360"/>
            <a:ext cx="260604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01084" y="2130552"/>
            <a:ext cx="1133856" cy="1133856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83964" y="2496312"/>
            <a:ext cx="768096" cy="420624"/>
          </a:xfrm>
          <a:prstGeom prst="roundRect">
            <a:avLst>
              <a:gd name="adj" fmla="val 45000"/>
            </a:avLst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93692" y="2674620"/>
            <a:ext cx="201168" cy="45720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71416" y="2596896"/>
            <a:ext cx="45720" cy="201168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59452" y="2606040"/>
            <a:ext cx="82296" cy="82296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69180" y="2697480"/>
            <a:ext cx="82296" cy="82296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64992" y="352044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0F2A4D"/>
                </a:solidFill>
                <a:latin typeface="NanumSquareRound"/>
              </a:rPr>
              <a:t>게임 개발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9412" y="4160520"/>
            <a:ext cx="457200" cy="54864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6432" y="4389120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A6472"/>
                </a:solidFill>
                <a:latin typeface="NanumBarunGothic"/>
              </a:rPr>
              <a:t>게임을 기획하고</a:t>
            </a:r>
          </a:p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A6472"/>
                </a:solidFill>
                <a:latin typeface="NanumBarunGothic"/>
              </a:rPr>
              <a:t>프로그래밍하는 기술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1737360"/>
            <a:ext cx="260604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917436" y="2130552"/>
            <a:ext cx="1133856" cy="1133856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347204" y="2331720"/>
            <a:ext cx="0" cy="731520"/>
          </a:xfrm>
          <a:prstGeom prst="line">
            <a:avLst/>
          </a:prstGeom>
          <a:ln w="31750">
            <a:solidFill>
              <a:srgbClr val="0F2A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18604" y="2560320"/>
            <a:ext cx="731520" cy="0"/>
          </a:xfrm>
          <a:prstGeom prst="line">
            <a:avLst/>
          </a:prstGeom>
          <a:ln w="31750">
            <a:solidFill>
              <a:srgbClr val="0F2A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84364" y="2331720"/>
            <a:ext cx="0" cy="731520"/>
          </a:xfrm>
          <a:prstGeom prst="line">
            <a:avLst/>
          </a:prstGeom>
          <a:ln w="31750">
            <a:solidFill>
              <a:srgbClr val="0F2A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118604" y="2697480"/>
            <a:ext cx="731520" cy="0"/>
          </a:xfrm>
          <a:prstGeom prst="line">
            <a:avLst/>
          </a:prstGeom>
          <a:ln w="31750">
            <a:solidFill>
              <a:srgbClr val="0F2A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21524" y="2331720"/>
            <a:ext cx="0" cy="731520"/>
          </a:xfrm>
          <a:prstGeom prst="line">
            <a:avLst/>
          </a:prstGeom>
          <a:ln w="31750">
            <a:solidFill>
              <a:srgbClr val="0F2A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18604" y="2834640"/>
            <a:ext cx="731520" cy="0"/>
          </a:xfrm>
          <a:prstGeom prst="line">
            <a:avLst/>
          </a:prstGeom>
          <a:ln w="31750">
            <a:solidFill>
              <a:srgbClr val="0F2A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228332" y="2441448"/>
            <a:ext cx="512064" cy="512064"/>
          </a:xfrm>
          <a:prstGeom prst="roundRect">
            <a:avLst>
              <a:gd name="adj" fmla="val 15000"/>
            </a:avLst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8332" y="244144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C20E"/>
                </a:solidFill>
                <a:latin typeface="NanumSquareRound"/>
              </a:rPr>
              <a:t>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1344" y="352044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0F2A4D"/>
                </a:solidFill>
                <a:latin typeface="NanumSquareRound"/>
              </a:rPr>
              <a:t>인공지능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55764" y="4160520"/>
            <a:ext cx="457200" cy="54864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2783" y="4389120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A6472"/>
                </a:solidFill>
                <a:latin typeface="NanumBarunGothic"/>
              </a:rPr>
              <a:t>AI의 원리를 이해하고</a:t>
            </a:r>
          </a:p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A6472"/>
                </a:solidFill>
                <a:latin typeface="NanumBarunGothic"/>
              </a:rPr>
              <a:t>활용하는 기술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97696" y="1737360"/>
            <a:ext cx="260604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733788" y="2130552"/>
            <a:ext cx="1133856" cy="1133856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026396" y="2743200"/>
            <a:ext cx="137160" cy="228600"/>
          </a:xfrm>
          <a:prstGeom prst="roundRect">
            <a:avLst>
              <a:gd name="adj" fmla="val 20000"/>
            </a:avLst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227564" y="2560320"/>
            <a:ext cx="137160" cy="411480"/>
          </a:xfrm>
          <a:prstGeom prst="roundRect">
            <a:avLst>
              <a:gd name="adj" fmla="val 20000"/>
            </a:avLst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428732" y="2404872"/>
            <a:ext cx="137160" cy="566928"/>
          </a:xfrm>
          <a:prstGeom prst="roundRect">
            <a:avLst>
              <a:gd name="adj" fmla="val 20000"/>
            </a:avLst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9953244" y="2999232"/>
            <a:ext cx="694944" cy="0"/>
          </a:xfrm>
          <a:prstGeom prst="line">
            <a:avLst/>
          </a:prstGeom>
          <a:ln w="38100">
            <a:solidFill>
              <a:srgbClr val="0F2A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997696" y="352044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0F2A4D"/>
                </a:solidFill>
                <a:latin typeface="NanumSquareRound"/>
              </a:rPr>
              <a:t>빅데이터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72116" y="4160520"/>
            <a:ext cx="457200" cy="54864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89136" y="4389120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A6472"/>
                </a:solidFill>
                <a:latin typeface="NanumBarunGothic"/>
              </a:rPr>
              <a:t>데이터를 모으고</a:t>
            </a:r>
          </a:p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A6472"/>
                </a:solidFill>
                <a:latin typeface="NanumBarunGothic"/>
              </a:rPr>
              <a:t>분석하는 기술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C20E"/>
                </a:solidFill>
                <a:latin typeface="NanumGothicCoding"/>
              </a:rPr>
              <a:t>&lt;/&gt;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4747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2A4D"/>
                </a:solidFill>
                <a:latin typeface="NanumSquareRound"/>
              </a:rPr>
              <a:t>취득 가능 자격증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" y="1024128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5A6472"/>
                </a:solidFill>
                <a:latin typeface="NanumBarunGothic"/>
              </a:rPr>
              <a:t>배운 실력을 자격증으로 증명해요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31520" cy="777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347472"/>
            <a:ext cx="611342" cy="658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NanumBarunGothic"/>
              </a:rPr>
              <a:t>대구스마트고등학교  </a:t>
            </a:r>
            <a:r>
              <a:rPr sz="1300" b="1">
                <a:solidFill>
                  <a:srgbClr val="FFC20E"/>
                </a:solidFill>
                <a:latin typeface="NanumBarunGothic"/>
              </a:rPr>
              <a:t>소프트웨어과</a:t>
            </a:r>
          </a:p>
        </p:txBody>
      </p:sp>
      <p:sp>
        <p:nvSpPr>
          <p:cNvPr id="9" name="Oval 8"/>
          <p:cNvSpPr/>
          <p:nvPr/>
        </p:nvSpPr>
        <p:spPr>
          <a:xfrm>
            <a:off x="11292840" y="6291072"/>
            <a:ext cx="530352" cy="530352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92840" y="629107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F2A4D"/>
                </a:solidFill>
                <a:latin typeface="NanumSquareRound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37360"/>
            <a:ext cx="352044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41931" y="2130552"/>
            <a:ext cx="1133856" cy="1133856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900000">
            <a:off x="2125979" y="2715768"/>
            <a:ext cx="109728" cy="347472"/>
          </a:xfrm>
          <a:prstGeom prst="rect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0700000">
            <a:off x="2382012" y="2715768"/>
            <a:ext cx="109728" cy="347472"/>
          </a:xfrm>
          <a:prstGeom prst="rect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61972" y="2350008"/>
            <a:ext cx="493776" cy="493776"/>
          </a:xfrm>
          <a:prstGeom prst="ellipse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2556" y="2450592"/>
            <a:ext cx="292608" cy="292608"/>
          </a:xfrm>
          <a:prstGeom prst="ellipse">
            <a:avLst/>
          </a:prstGeom>
          <a:noFill/>
          <a:ln w="31750">
            <a:solidFill>
              <a:srgbClr val="FFC2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5A6472"/>
                </a:solidFill>
                <a:latin typeface="NanumBarunGothic"/>
              </a:rPr>
              <a:t>정보처리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77639"/>
            <a:ext cx="3154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0F2A4D"/>
                </a:solidFill>
                <a:latin typeface="NanumSquareRound"/>
              </a:rPr>
              <a:t>정보처리산업기사</a:t>
            </a:r>
          </a:p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0F2A4D"/>
                </a:solidFill>
                <a:latin typeface="NanumSquareRound"/>
              </a:rPr>
              <a:t>정보처리기능사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1737360"/>
            <a:ext cx="352044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90971" y="2130552"/>
            <a:ext cx="1133856" cy="1133856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900000">
            <a:off x="5875019" y="2715768"/>
            <a:ext cx="109728" cy="347472"/>
          </a:xfrm>
          <a:prstGeom prst="rect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700000">
            <a:off x="6131051" y="2715768"/>
            <a:ext cx="109728" cy="347472"/>
          </a:xfrm>
          <a:prstGeom prst="rect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1" y="2350008"/>
            <a:ext cx="493776" cy="493776"/>
          </a:xfrm>
          <a:prstGeom prst="ellipse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11595" y="2450592"/>
            <a:ext cx="292608" cy="292608"/>
          </a:xfrm>
          <a:prstGeom prst="ellipse">
            <a:avLst/>
          </a:prstGeom>
          <a:noFill/>
          <a:ln w="31750">
            <a:solidFill>
              <a:srgbClr val="FFC2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79" y="3520440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5A6472"/>
                </a:solidFill>
                <a:latin typeface="NanumBarunGothic"/>
              </a:rPr>
              <a:t>정보기기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3977639"/>
            <a:ext cx="3154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0F2A4D"/>
                </a:solidFill>
                <a:latin typeface="NanumSquareRound"/>
              </a:rPr>
              <a:t>정보기기운용기능사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1737360"/>
            <a:ext cx="352044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40012" y="2130552"/>
            <a:ext cx="1133856" cy="1133856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900000">
            <a:off x="9624060" y="2715768"/>
            <a:ext cx="109728" cy="347472"/>
          </a:xfrm>
          <a:prstGeom prst="rect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0700000">
            <a:off x="9880092" y="2715768"/>
            <a:ext cx="109728" cy="347472"/>
          </a:xfrm>
          <a:prstGeom prst="rect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60052" y="2350008"/>
            <a:ext cx="493776" cy="493776"/>
          </a:xfrm>
          <a:prstGeom prst="ellipse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60636" y="2450592"/>
            <a:ext cx="292608" cy="292608"/>
          </a:xfrm>
          <a:prstGeom prst="ellipse">
            <a:avLst/>
          </a:prstGeom>
          <a:noFill/>
          <a:ln w="31750">
            <a:solidFill>
              <a:srgbClr val="FFC2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3520440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5A6472"/>
                </a:solidFill>
                <a:latin typeface="NanumBarunGothic"/>
              </a:rPr>
              <a:t>그래픽·사무·네트워크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3977639"/>
            <a:ext cx="3154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0F2A4D"/>
                </a:solidFill>
                <a:latin typeface="NanumSquareRound"/>
              </a:rPr>
              <a:t>GTQ</a:t>
            </a:r>
          </a:p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0F2A4D"/>
                </a:solidFill>
                <a:latin typeface="NanumSquareRound"/>
              </a:rPr>
              <a:t>ITQ</a:t>
            </a:r>
          </a:p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0F2A4D"/>
                </a:solidFill>
                <a:latin typeface="NanumSquareRound"/>
              </a:rPr>
              <a:t>네트워크관리사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A6472"/>
                </a:solidFill>
                <a:latin typeface="NanumBarunGothic"/>
              </a:rPr>
              <a:t>※ 이 밖에도 다양한 자격증에 도전할 수 있어요.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C20E"/>
                </a:solidFill>
                <a:latin typeface="NanumGothicCoding"/>
              </a:rPr>
              <a:t>&lt;/&gt;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4747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2A4D"/>
                </a:solidFill>
                <a:latin typeface="NanumSquareRound"/>
              </a:rPr>
              <a:t>졸업 후에는 이렇게 나아가요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" y="1024128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5A6472"/>
                </a:solidFill>
                <a:latin typeface="NanumBarunGothic"/>
              </a:rPr>
              <a:t>취업과 진학, 두 갈래 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31520" cy="777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347472"/>
            <a:ext cx="611342" cy="658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NanumBarunGothic"/>
              </a:rPr>
              <a:t>대구스마트고등학교  </a:t>
            </a:r>
            <a:r>
              <a:rPr sz="1300" b="1">
                <a:solidFill>
                  <a:srgbClr val="FFC20E"/>
                </a:solidFill>
                <a:latin typeface="NanumBarunGothic"/>
              </a:rPr>
              <a:t>소프트웨어과</a:t>
            </a:r>
          </a:p>
        </p:txBody>
      </p:sp>
      <p:sp>
        <p:nvSpPr>
          <p:cNvPr id="9" name="Oval 8"/>
          <p:cNvSpPr/>
          <p:nvPr/>
        </p:nvSpPr>
        <p:spPr>
          <a:xfrm>
            <a:off x="11292840" y="6291072"/>
            <a:ext cx="530352" cy="530352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92840" y="629107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F2A4D"/>
                </a:solidFill>
                <a:latin typeface="NanumSquareRound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45920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4592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NanumSquareRound"/>
              </a:rPr>
              <a:t>취업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25146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9012" y="2679191"/>
            <a:ext cx="1133856" cy="1133856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40180" y="2953512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40180" y="295351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C20E"/>
                </a:solidFill>
                <a:latin typeface="NanumGothicCoding"/>
              </a:rPr>
              <a:t>&lt;/&gt;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60220" y="3410712"/>
            <a:ext cx="91440" cy="109728"/>
          </a:xfrm>
          <a:prstGeom prst="rect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4772" y="3511296"/>
            <a:ext cx="402336" cy="64008"/>
          </a:xfrm>
          <a:prstGeom prst="roundRect">
            <a:avLst>
              <a:gd name="adj" fmla="val 50000"/>
            </a:avLst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2331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0F2A4D"/>
                </a:solidFill>
                <a:latin typeface="NanumSquareRound"/>
              </a:rPr>
              <a:t>응용프로그램</a:t>
            </a:r>
          </a:p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0F2A4D"/>
                </a:solidFill>
                <a:latin typeface="NanumSquareRound"/>
              </a:rPr>
              <a:t>웹·앱·게임 개발자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2331720"/>
            <a:ext cx="25146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36492" y="2679191"/>
            <a:ext cx="1133856" cy="1133856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4229100" y="2990087"/>
            <a:ext cx="274320" cy="457201"/>
          </a:xfrm>
          <a:prstGeom prst="line">
            <a:avLst/>
          </a:prstGeom>
          <a:ln w="38100">
            <a:solidFill>
              <a:srgbClr val="0F2A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29100" y="3447288"/>
            <a:ext cx="548640" cy="0"/>
          </a:xfrm>
          <a:prstGeom prst="line">
            <a:avLst/>
          </a:prstGeom>
          <a:ln w="38100">
            <a:solidFill>
              <a:srgbClr val="0F2A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03420" y="2990087"/>
            <a:ext cx="274320" cy="457201"/>
          </a:xfrm>
          <a:prstGeom prst="line">
            <a:avLst/>
          </a:prstGeom>
          <a:ln w="38100">
            <a:solidFill>
              <a:srgbClr val="0F2A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384548" y="2871215"/>
            <a:ext cx="237744" cy="237744"/>
          </a:xfrm>
          <a:prstGeom prst="ellipse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10228" y="3328416"/>
            <a:ext cx="237744" cy="237744"/>
          </a:xfrm>
          <a:prstGeom prst="ellipse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58868" y="3328416"/>
            <a:ext cx="237744" cy="237744"/>
          </a:xfrm>
          <a:prstGeom prst="ellipse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4114800"/>
            <a:ext cx="2331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0F2A4D"/>
                </a:solidFill>
                <a:latin typeface="NanumSquareRound"/>
              </a:rPr>
              <a:t>AI·빅데이터</a:t>
            </a:r>
          </a:p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0F2A4D"/>
                </a:solidFill>
                <a:latin typeface="NanumSquareRound"/>
              </a:rPr>
              <a:t>네트워크 관련 업체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2331720"/>
            <a:ext cx="25146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33972" y="2679191"/>
            <a:ext cx="1133856" cy="1133856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6816852" y="2880360"/>
            <a:ext cx="768096" cy="228600"/>
          </a:xfrm>
          <a:prstGeom prst="triangle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71716" y="3483863"/>
            <a:ext cx="658368" cy="73152"/>
          </a:xfrm>
          <a:prstGeom prst="rect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26580" y="3136391"/>
            <a:ext cx="73152" cy="329184"/>
          </a:xfrm>
          <a:prstGeom prst="rect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91172" y="3136391"/>
            <a:ext cx="73152" cy="329184"/>
          </a:xfrm>
          <a:prstGeom prst="rect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55764" y="3136391"/>
            <a:ext cx="73152" cy="329184"/>
          </a:xfrm>
          <a:prstGeom prst="rect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0356" y="3136391"/>
            <a:ext cx="73152" cy="329184"/>
          </a:xfrm>
          <a:prstGeom prst="rect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4114800"/>
            <a:ext cx="2331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0F2A4D"/>
                </a:solidFill>
                <a:latin typeface="NanumSquareRound"/>
              </a:rPr>
              <a:t>소프트웨어 전문기업</a:t>
            </a:r>
          </a:p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0F2A4D"/>
                </a:solidFill>
                <a:latin typeface="NanumSquareRound"/>
              </a:rPr>
              <a:t>공기업 전산직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3960" y="1645920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7AB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23960" y="164592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NanumSquareRound"/>
              </a:rPr>
              <a:t>진학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23960" y="2331720"/>
            <a:ext cx="283464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B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674352" y="2679191"/>
            <a:ext cx="1133856" cy="1133856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040111" y="3227832"/>
            <a:ext cx="402336" cy="237744"/>
          </a:xfrm>
          <a:prstGeom prst="roundRect">
            <a:avLst>
              <a:gd name="adj" fmla="val 30000"/>
            </a:avLst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iamond 42"/>
          <p:cNvSpPr/>
          <p:nvPr/>
        </p:nvSpPr>
        <p:spPr>
          <a:xfrm>
            <a:off x="9820655" y="2953512"/>
            <a:ext cx="841248" cy="384048"/>
          </a:xfrm>
          <a:prstGeom prst="diamond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0515600" y="3145536"/>
            <a:ext cx="0" cy="28346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474452" y="340156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5400" y="4114800"/>
            <a:ext cx="2651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100" b="1">
                <a:solidFill>
                  <a:srgbClr val="0F2A4D"/>
                </a:solidFill>
                <a:latin typeface="NanumSquareRound"/>
              </a:rPr>
              <a:t>대학 진학</a:t>
            </a:r>
          </a:p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0F2A4D"/>
                </a:solidFill>
                <a:latin typeface="NanumBarunGothic"/>
              </a:rPr>
              <a:t>졸업생 진학 사례</a:t>
            </a:r>
          </a:p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7AB848"/>
                </a:solidFill>
                <a:latin typeface="NanumBarunGothic"/>
              </a:rPr>
              <a:t>서강대학교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F2A4D"/>
                </a:solidFill>
                <a:latin typeface="NanumSquareRound"/>
              </a:rPr>
              <a:t>취업</a:t>
            </a:r>
            <a:r>
              <a:rPr sz="2000" b="0">
                <a:solidFill>
                  <a:srgbClr val="0F2A4D"/>
                </a:solidFill>
                <a:latin typeface="NanumSquareRound"/>
              </a:rPr>
              <a:t>도 </a:t>
            </a:r>
            <a:r>
              <a:rPr sz="2000" b="1">
                <a:solidFill>
                  <a:srgbClr val="0F2A4D"/>
                </a:solidFill>
                <a:latin typeface="NanumSquareRound"/>
              </a:rPr>
              <a:t>대학</a:t>
            </a:r>
            <a:r>
              <a:rPr sz="2000" b="0">
                <a:solidFill>
                  <a:srgbClr val="0F2A4D"/>
                </a:solidFill>
                <a:latin typeface="NanumSquareRound"/>
              </a:rPr>
              <a:t>도, 소프트웨어과에서 시작해요!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C20E"/>
                </a:solidFill>
                <a:latin typeface="NanumGothicCoding"/>
              </a:rPr>
              <a:t>&lt;/&gt;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47472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NanumSquareRound"/>
              </a:rPr>
              <a:t>함께 코드를 만들어 갈 친구를 기다려요!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4937760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5A6472"/>
                </a:solidFill>
                <a:latin typeface="NanumSquareRound"/>
              </a:rPr>
              <a:t>2027학년도 모집 인원 (남녀 공학)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0F2A4D"/>
                </a:solidFill>
                <a:latin typeface="NanumSquareRound"/>
              </a:rPr>
              <a:t>1</a:t>
            </a:r>
            <a:r>
              <a:rPr sz="2800" b="1">
                <a:solidFill>
                  <a:srgbClr val="0F2A4D"/>
                </a:solidFill>
                <a:latin typeface="NanumSquareRound"/>
              </a:rPr>
              <a:t>학급 </a:t>
            </a:r>
            <a:r>
              <a:rPr sz="6000" b="1">
                <a:solidFill>
                  <a:srgbClr val="7AB848"/>
                </a:solidFill>
                <a:latin typeface="NanumSquareRound"/>
              </a:rPr>
              <a:t>24</a:t>
            </a:r>
            <a:r>
              <a:rPr sz="2800" b="1">
                <a:solidFill>
                  <a:srgbClr val="0F2A4D"/>
                </a:solidFill>
                <a:latin typeface="NanumSquareRound"/>
              </a:rPr>
              <a:t>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3383280"/>
            <a:ext cx="4389120" cy="0"/>
          </a:xfrm>
          <a:prstGeom prst="line">
            <a:avLst/>
          </a:prstGeom>
          <a:ln w="19050">
            <a:solidFill>
              <a:srgbClr val="FF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352044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0F2A4D"/>
                </a:solidFill>
                <a:latin typeface="NanumBarunGothic"/>
              </a:rPr>
              <a:t>취업희망자전형  16명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0F2A4D"/>
                </a:solidFill>
                <a:latin typeface="NanumBarunGothic"/>
              </a:rPr>
              <a:t>일반전형 및 기타 특별전형  8명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2"/>
                </a:solidFill>
                <a:latin typeface="NanumBarunGothic"/>
              </a:rPr>
              <a:t>※ 모집 정원은 「2027학년도 대구광역시 고등학교 학생 배치계획」에 따라 변경될 수 있음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417320"/>
            <a:ext cx="5897880" cy="3931920"/>
          </a:xfrm>
          <a:prstGeom prst="roundRect">
            <a:avLst>
              <a:gd name="adj" fmla="val 12000"/>
            </a:avLst>
          </a:prstGeom>
          <a:solidFill>
            <a:srgbClr val="1C3D66"/>
          </a:solidFill>
          <a:ln w="15875">
            <a:solidFill>
              <a:srgbClr val="FFC2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6459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C20E"/>
                </a:solidFill>
                <a:latin typeface="NanumSquareRound"/>
              </a:rPr>
              <a:t>OPEN DAY </a:t>
            </a:r>
            <a:r>
              <a:rPr sz="2800" b="1">
                <a:solidFill>
                  <a:srgbClr val="FFFFFF"/>
                </a:solidFill>
                <a:latin typeface="NanumSquareRound"/>
              </a:rPr>
              <a:t>학교설명회</a:t>
            </a:r>
          </a:p>
        </p:txBody>
      </p:sp>
      <p:sp>
        <p:nvSpPr>
          <p:cNvPr id="12" name="Oval 11"/>
          <p:cNvSpPr/>
          <p:nvPr/>
        </p:nvSpPr>
        <p:spPr>
          <a:xfrm>
            <a:off x="6080760" y="2423160"/>
            <a:ext cx="685800" cy="685800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4231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F2A4D"/>
                </a:solidFill>
                <a:latin typeface="NanumSquareRound"/>
              </a:rPr>
              <a:t>1차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423160"/>
            <a:ext cx="4709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NanumSquareRound"/>
              </a:rPr>
              <a:t>9월 19일(토)  </a:t>
            </a:r>
            <a:r>
              <a:rPr sz="2000" b="1">
                <a:solidFill>
                  <a:srgbClr val="FFC20E"/>
                </a:solidFill>
                <a:latin typeface="NanumSquareRound"/>
              </a:rPr>
              <a:t>오후 2시 30분</a:t>
            </a:r>
          </a:p>
        </p:txBody>
      </p:sp>
      <p:sp>
        <p:nvSpPr>
          <p:cNvPr id="15" name="Oval 14"/>
          <p:cNvSpPr/>
          <p:nvPr/>
        </p:nvSpPr>
        <p:spPr>
          <a:xfrm>
            <a:off x="6080760" y="3291839"/>
            <a:ext cx="685800" cy="685800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3291839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F2A4D"/>
                </a:solidFill>
                <a:latin typeface="NanumSquareRound"/>
              </a:rPr>
              <a:t>2차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291839"/>
            <a:ext cx="4709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NanumSquareRound"/>
              </a:rPr>
              <a:t>11월 20일(금)  </a:t>
            </a:r>
            <a:r>
              <a:rPr sz="2000" b="1">
                <a:solidFill>
                  <a:srgbClr val="FFC20E"/>
                </a:solidFill>
                <a:latin typeface="NanumSquareRound"/>
              </a:rPr>
              <a:t>오후 1시 30분</a:t>
            </a:r>
          </a:p>
        </p:txBody>
      </p:sp>
      <p:sp>
        <p:nvSpPr>
          <p:cNvPr id="18" name="Oval 17"/>
          <p:cNvSpPr/>
          <p:nvPr/>
        </p:nvSpPr>
        <p:spPr>
          <a:xfrm>
            <a:off x="6080760" y="4160520"/>
            <a:ext cx="685800" cy="685800"/>
          </a:xfrm>
          <a:prstGeom prst="ellips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416052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F2A4D"/>
                </a:solidFill>
                <a:latin typeface="NanumSquareRound"/>
              </a:rPr>
              <a:t>3차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160520"/>
            <a:ext cx="4709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NanumSquareRound"/>
              </a:rPr>
              <a:t>11월 21일(토)  </a:t>
            </a:r>
            <a:r>
              <a:rPr sz="2000" b="1">
                <a:solidFill>
                  <a:srgbClr val="FFC20E"/>
                </a:solidFill>
                <a:latin typeface="NanumSquareRound"/>
              </a:rPr>
              <a:t>오후 2시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8778240" cy="777240"/>
          </a:xfrm>
          <a:prstGeom prst="roundRect">
            <a:avLst>
              <a:gd name="adj" fmla="val 50000"/>
            </a:avLst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669280"/>
            <a:ext cx="8778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0F2A4D"/>
                </a:solidFill>
                <a:latin typeface="NanumSquareRound"/>
              </a:rPr>
              <a:t>입학 문의  </a:t>
            </a:r>
            <a:r>
              <a:rPr sz="2400" b="1">
                <a:solidFill>
                  <a:srgbClr val="0F2A4D"/>
                </a:solidFill>
                <a:latin typeface="NanumSquareRound"/>
              </a:rPr>
              <a:t>대구스마트고등학교 ☎ 053-○○○-○○○○</a:t>
            </a:r>
          </a:p>
        </p:txBody>
      </p:sp>
      <p:pic>
        <p:nvPicPr>
          <p:cNvPr id="23" name="Picture 22" descr="mascot_thu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5440680"/>
            <a:ext cx="889175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